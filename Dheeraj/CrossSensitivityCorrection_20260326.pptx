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handoutMasterIdLst>
    <p:handoutMasterId r:id="rId12"/>
  </p:handoutMasterIdLst>
  <p:sldIdLst>
    <p:sldId id="258" r:id="rId2"/>
    <p:sldId id="317" r:id="rId3"/>
    <p:sldId id="318" r:id="rId4"/>
    <p:sldId id="319" r:id="rId5"/>
    <p:sldId id="320" r:id="rId6"/>
    <p:sldId id="324" r:id="rId7"/>
    <p:sldId id="321" r:id="rId8"/>
    <p:sldId id="323" r:id="rId9"/>
    <p:sldId id="31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3840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800000"/>
    <a:srgbClr val="C95C3A"/>
    <a:srgbClr val="E57A37"/>
    <a:srgbClr val="FE12ED"/>
    <a:srgbClr val="CEC9B5"/>
    <a:srgbClr val="69685B"/>
    <a:srgbClr val="66AF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23" autoAdjust="0"/>
    <p:restoredTop sz="91522" autoAdjust="0"/>
  </p:normalViewPr>
  <p:slideViewPr>
    <p:cSldViewPr snapToGrid="0" snapToObjects="1">
      <p:cViewPr varScale="1">
        <p:scale>
          <a:sx n="101" d="100"/>
          <a:sy n="101" d="100"/>
        </p:scale>
        <p:origin x="1140" y="72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>
      <p:cViewPr varScale="1">
        <p:scale>
          <a:sx n="106" d="100"/>
          <a:sy n="106" d="100"/>
        </p:scale>
        <p:origin x="3216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89EDB-3FDD-4915-A3CE-62FA29C01A3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042649-1860-4D03-9360-22C2D8836B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661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4499FB-0CC7-453D-9493-CBDCD6D233E2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6A24B-926E-40EB-9E1B-5321DC3775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59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indent="0" algn="l" defTabSz="914400" rtl="0" eaLnBrk="1" latinLnBrk="0" hangingPunct="1">
      <a:lnSpc>
        <a:spcPct val="110000"/>
      </a:lnSpc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2286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46075" indent="-11747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57200" indent="-111125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457200" indent="0" algn="l" defTabSz="914400" rtl="0" eaLnBrk="1" latinLnBrk="0" hangingPunct="1"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6A24B-926E-40EB-9E1B-5321DC3775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09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1AA23-BC72-DE9F-2E56-B4F9FC7B98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03FA5F-3B08-7FE5-E5A7-63B2FBB9CD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7C599-AD4E-9F8A-5545-2E80F2FFE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989AD-6A8F-4DC5-9165-5F01331F34EE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BF179-6A9C-FA09-6572-07EAF600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4BCBE6-4386-5F8A-27B1-81C986BC3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56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0B742-50C0-A683-A087-A5BC0944C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1AF26-D1A5-9429-D8D1-061B379E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F4AA-3CA5-ACD2-3392-327C63DDE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8BF32-BF57-4937-A322-0F9A35E08490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3C5A3-21E5-FD8B-890B-C0710349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5891-BA33-8486-1B2C-CB642EAE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269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137C-BCE5-DDD3-001F-61D866C4C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5CA0AE-2646-C6F0-5D03-4B7D6A990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33829-7E03-18A5-88CF-D0A25FCD4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0065A-C893-49AB-9400-8C6CB77BA423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8D25-369E-A07F-44E4-99238531A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ED557-CA53-3425-9F12-28A5ADABB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107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A3CC-0808-0424-A090-ED411134E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98A10-0655-1154-62ED-A145375E9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D4B4BF-7EFD-D548-888F-3CE10018B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A5258D-294E-B6AD-7C07-87DCFB4BB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0D231-0A37-4D4F-9771-433759E14FE5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063BA-458E-88DF-0E8E-97722CEB2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248E8-AFD3-C7FD-D169-7EB99EDB4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239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FA8B7-862D-D771-B472-EF00A8F20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2378C5-1BE8-A10A-DC02-43D12B421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20FAE4-1E4F-251B-433B-A4B76E87B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D1E9D5-BDDC-FB78-664C-8FC82A61F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31606B-2D15-F200-712E-BF3CDC550A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A1B38D-B1C4-B9DD-2B6B-4860FBB37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32569-BE35-43BB-8316-31CA11F2257B}" type="datetime1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09B30-5C21-3ADA-B031-FAADF94D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2A2120-C58F-A060-A846-14F5BF539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21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9368D-EF04-80BA-7397-6C8AA569D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D9C7F-CEF7-A055-7B32-CFA93E249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B7084-58F6-43D1-97C2-46B432B3F80A}" type="datetime1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63590A-7732-97EA-B989-476FA55AD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687AF-93D4-5DD6-66DC-579E04EB6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44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C342A4-9E16-1115-0072-FDBF3459C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8A002-4DA9-4315-9843-424A18B72946}" type="datetime1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CAA95D-2AF2-1FFC-FD65-FBF9E1FA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15DAD3-A6AA-4C97-E35B-BB43D76D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6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36D1F-DF52-9248-A381-12674A464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4CC33-C5B4-DEC6-BB87-7AEA48D0B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DAE11C-B933-1D01-2F82-DF921538CC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AD933D-93DD-770A-3AEC-809C23206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1A437-2BAA-4CCE-9191-C99810534E98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88E60-8B7D-0465-6960-AC0108F1C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64CC6-6767-0FCD-BD24-E39813798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79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2340-E597-1543-77E7-08F2E6B6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947E6C-C118-9865-EC51-2F92B44648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4BCA80-B1AE-2C1A-6CC4-60A7D652C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829A3-806A-B37E-399A-965E84258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B35D2-A1A9-4F9F-8ED3-7C211A298E06}" type="datetime1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C8EB3B-6843-F4B1-9C54-E69383E83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913B6A-9A89-A5AC-6F3D-388DF6BA5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01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DCA3-E97E-F5D0-D823-EDB03754D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B4CAA4-8F4F-54ED-BCC7-D453A3011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84B912-6125-6ADE-15A2-7E362B365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D0DA67-B05D-4D89-A6AE-3451A7C46688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6C148-DFED-4340-9975-27746CD34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B23D-3B30-B500-2D42-8BB87219C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08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349A77-89FC-E472-8839-D0801F47D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C802B4-AC37-A44F-4532-5F3C47C28A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AB9E-9B9D-404A-E479-9C9D239CF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70045-1C16-40FE-8880-B3A695D7C6DD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034E9-ED66-7600-A9D8-4A8595FE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7161C-9DE5-B008-5AB3-E801648FF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140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2DA70E-7E9F-F6EB-3EBF-336986E6EBD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86BBAE2E-CF69-462F-D99F-B8FB884CFC8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2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81636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6ADF050F-4B96-8F47-9ED5-126B6BB4A7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59F6DB-F72B-CD48-A567-A92CD37A81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ACC2408-BEEC-F148-B9BC-F196717E8C05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0E6F19-B158-8F4A-A1E8-F43562F62F5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53691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gue">
    <p:bg>
      <p:bgPr>
        <a:gradFill>
          <a:gsLst>
            <a:gs pos="0">
              <a:schemeClr val="tx2">
                <a:lumMod val="91000"/>
                <a:lumOff val="9000"/>
              </a:schemeClr>
            </a:gs>
            <a:gs pos="76000">
              <a:schemeClr val="tx2">
                <a:lumMod val="75000"/>
              </a:schemeClr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 userDrawn="1"/>
        </p:nvSpPr>
        <p:spPr>
          <a:xfrm>
            <a:off x="-1270000" y="2959100"/>
            <a:ext cx="65" cy="302390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endParaRPr lang="en-US" sz="1800" dirty="0">
              <a:solidFill>
                <a:schemeClr val="tx2"/>
              </a:solidFill>
            </a:endParaRPr>
          </a:p>
        </p:txBody>
      </p:sp>
      <p:sp>
        <p:nvSpPr>
          <p:cNvPr id="37" name="Text Placeholder 31"/>
          <p:cNvSpPr>
            <a:spLocks noGrp="1"/>
          </p:cNvSpPr>
          <p:nvPr>
            <p:ph type="body" sz="quarter" idx="10"/>
          </p:nvPr>
        </p:nvSpPr>
        <p:spPr>
          <a:xfrm>
            <a:off x="8223684" y="2904236"/>
            <a:ext cx="3068713" cy="2746756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defRPr lang="en-US" sz="1700" i="0" dirty="0" smtClean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902208" y="2940813"/>
            <a:ext cx="6117069" cy="2946231"/>
          </a:xfrm>
        </p:spPr>
        <p:txBody>
          <a:bodyPr/>
          <a:lstStyle>
            <a:lvl1pPr marL="0" algn="r" defTabSz="914400" rtl="0" eaLnBrk="1" latinLnBrk="0" hangingPunct="1">
              <a:lnSpc>
                <a:spcPct val="70000"/>
              </a:lnSpc>
              <a:buNone/>
              <a:defRPr lang="en-US" sz="7000" kern="1200" dirty="0" smtClean="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algn="r">
              <a:defRPr/>
            </a:lvl2pPr>
            <a:lvl3pPr algn="r">
              <a:defRPr/>
            </a:lvl3pPr>
            <a:lvl4pPr algn="r">
              <a:defRPr/>
            </a:lvl4pPr>
            <a:lvl5pPr algn="r">
              <a:defRPr/>
            </a:lvl5pPr>
          </a:lstStyle>
          <a:p>
            <a:pPr lvl="0"/>
            <a:r>
              <a:rPr lang="en-US" dirty="0"/>
              <a:t>Edit text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7640431" y="2769834"/>
            <a:ext cx="0" cy="2881159"/>
          </a:xfrm>
          <a:prstGeom prst="line">
            <a:avLst/>
          </a:prstGeom>
          <a:ln w="127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9E3085-A0AF-2F49-90EE-52FB15584E6C}"/>
              </a:ext>
            </a:extLst>
          </p:cNvPr>
          <p:cNvCxnSpPr/>
          <p:nvPr userDrawn="1"/>
        </p:nvCxnSpPr>
        <p:spPr>
          <a:xfrm>
            <a:off x="7684952" y="2769834"/>
            <a:ext cx="0" cy="288115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7501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C or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21575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4" name="Text Placeholder 3"/>
          <p:cNvSpPr>
            <a:spLocks noGrp="1"/>
          </p:cNvSpPr>
          <p:nvPr>
            <p:ph type="body" sz="half" idx="29" hasCustomPrompt="1"/>
          </p:nvPr>
        </p:nvSpPr>
        <p:spPr>
          <a:xfrm>
            <a:off x="21575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5" name="Text Placeholder 29"/>
          <p:cNvSpPr>
            <a:spLocks noGrp="1"/>
          </p:cNvSpPr>
          <p:nvPr>
            <p:ph type="body" sz="quarter" idx="30" hasCustomPrompt="1"/>
          </p:nvPr>
        </p:nvSpPr>
        <p:spPr>
          <a:xfrm>
            <a:off x="9144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6" name="Text Placeholder 3"/>
          <p:cNvSpPr>
            <a:spLocks noGrp="1"/>
          </p:cNvSpPr>
          <p:nvPr>
            <p:ph type="body" sz="half" idx="31" hasCustomPrompt="1"/>
          </p:nvPr>
        </p:nvSpPr>
        <p:spPr>
          <a:xfrm>
            <a:off x="21575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7" name="Text Placeholder 29"/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98" name="Text Placeholder 3"/>
          <p:cNvSpPr>
            <a:spLocks noGrp="1"/>
          </p:cNvSpPr>
          <p:nvPr>
            <p:ph type="body" sz="half" idx="33" hasCustomPrompt="1"/>
          </p:nvPr>
        </p:nvSpPr>
        <p:spPr>
          <a:xfrm>
            <a:off x="7643907" y="258983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99" name="Text Placeholder 29"/>
          <p:cNvSpPr>
            <a:spLocks noGrp="1"/>
          </p:cNvSpPr>
          <p:nvPr>
            <p:ph type="body" sz="quarter" idx="34" hasCustomPrompt="1"/>
          </p:nvPr>
        </p:nvSpPr>
        <p:spPr>
          <a:xfrm>
            <a:off x="6400800" y="256638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0" name="Text Placeholder 3"/>
          <p:cNvSpPr>
            <a:spLocks noGrp="1"/>
          </p:cNvSpPr>
          <p:nvPr>
            <p:ph type="body" sz="half" idx="35" hasCustomPrompt="1"/>
          </p:nvPr>
        </p:nvSpPr>
        <p:spPr>
          <a:xfrm>
            <a:off x="7643907" y="3504241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1" name="Text Placeholder 29"/>
          <p:cNvSpPr>
            <a:spLocks noGrp="1"/>
          </p:cNvSpPr>
          <p:nvPr>
            <p:ph type="body" sz="quarter" idx="36" hasCustomPrompt="1"/>
          </p:nvPr>
        </p:nvSpPr>
        <p:spPr>
          <a:xfrm>
            <a:off x="6400800" y="3480794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02" name="Text Placeholder 3"/>
          <p:cNvSpPr>
            <a:spLocks noGrp="1"/>
          </p:cNvSpPr>
          <p:nvPr>
            <p:ph type="body" sz="half" idx="37" hasCustomPrompt="1"/>
          </p:nvPr>
        </p:nvSpPr>
        <p:spPr>
          <a:xfrm>
            <a:off x="7643907" y="4418646"/>
            <a:ext cx="3633693" cy="914399"/>
          </a:xfrm>
        </p:spPr>
        <p:txBody>
          <a:bodyPr anchor="t" anchorCtr="0">
            <a:noAutofit/>
          </a:bodyPr>
          <a:lstStyle>
            <a:lvl1pPr marL="0" indent="0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section title</a:t>
            </a:r>
          </a:p>
        </p:txBody>
      </p:sp>
      <p:sp>
        <p:nvSpPr>
          <p:cNvPr id="103" name="Text Placeholder 29"/>
          <p:cNvSpPr>
            <a:spLocks noGrp="1"/>
          </p:cNvSpPr>
          <p:nvPr>
            <p:ph type="body" sz="quarter" idx="38" hasCustomPrompt="1"/>
          </p:nvPr>
        </p:nvSpPr>
        <p:spPr>
          <a:xfrm>
            <a:off x="6400800" y="4395199"/>
            <a:ext cx="1243107" cy="937839"/>
          </a:xfrm>
        </p:spPr>
        <p:txBody>
          <a:bodyPr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500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</a:lstStyle>
          <a:p>
            <a:pPr lvl="0"/>
            <a:r>
              <a:rPr lang="en-US" dirty="0"/>
              <a:t>##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C23B5B04-5E17-D640-81C3-D4B82468AE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A3D31BE0-CD3A-E04E-A7FB-DB5B5BA20F1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90E21A4-2E8D-074F-9AC0-6CC72988CEF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05154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3"/>
          <p:cNvSpPr>
            <a:spLocks noGrp="1"/>
          </p:cNvSpPr>
          <p:nvPr>
            <p:ph sz="quarter" idx="15"/>
          </p:nvPr>
        </p:nvSpPr>
        <p:spPr>
          <a:xfrm>
            <a:off x="914400" y="2073443"/>
            <a:ext cx="4876800" cy="36576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5" name="Content Placeholder 13"/>
          <p:cNvSpPr>
            <a:spLocks noGrp="1"/>
          </p:cNvSpPr>
          <p:nvPr>
            <p:ph sz="quarter" idx="16"/>
          </p:nvPr>
        </p:nvSpPr>
        <p:spPr>
          <a:xfrm>
            <a:off x="6400800" y="2073443"/>
            <a:ext cx="4876800" cy="365760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7544534-439F-AC4D-8175-3A0054377E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9DF341-20B3-E346-8FF0-76CE642F753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14430E6-55F7-9645-B1AD-7A36482991AF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53376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: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83443"/>
            <a:ext cx="6705600" cy="361998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83443"/>
            <a:ext cx="3048000" cy="3619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Text Placeholder 2"/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2AC143F5-5835-FF41-B347-AE8DD6C232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578496-797C-6A44-9F2A-6548E9769A5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609632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: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4572000" y="2057400"/>
            <a:ext cx="6705600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B87FA64-9DF7-8D4F-AF09-1AB2C5A5FA7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C2948ED-1B22-8845-A0B4-BB068DE3F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BAACCF-3F9D-8B43-96E7-088709E24324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530C6B5-36C4-2B45-81A5-1AEAF187248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17541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Content Placeholder 37"/>
          <p:cNvSpPr>
            <a:spLocks noGrp="1"/>
          </p:cNvSpPr>
          <p:nvPr>
            <p:ph sz="quarter" idx="15"/>
          </p:nvPr>
        </p:nvSpPr>
        <p:spPr>
          <a:xfrm>
            <a:off x="914400" y="2057400"/>
            <a:ext cx="3048000" cy="3657600"/>
          </a:xfrm>
        </p:spPr>
        <p:txBody>
          <a:bodyPr/>
          <a:lstStyle>
            <a:lvl4pPr>
              <a:spcAft>
                <a:spcPts val="600"/>
              </a:spcAft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9" name="Content Placeholder 37"/>
          <p:cNvSpPr>
            <a:spLocks noGrp="1"/>
          </p:cNvSpPr>
          <p:nvPr>
            <p:ph sz="quarter" idx="16"/>
          </p:nvPr>
        </p:nvSpPr>
        <p:spPr>
          <a:xfrm>
            <a:off x="4572000" y="2057400"/>
            <a:ext cx="30480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Content Placeholder 37"/>
          <p:cNvSpPr>
            <a:spLocks noGrp="1"/>
          </p:cNvSpPr>
          <p:nvPr>
            <p:ph sz="quarter" idx="17"/>
          </p:nvPr>
        </p:nvSpPr>
        <p:spPr>
          <a:xfrm>
            <a:off x="8229600" y="2057400"/>
            <a:ext cx="30480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E5114E4-6AB8-AA4F-A8E8-C54E55AA61C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0D43117-3128-D24E-806D-357156928F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030A223-6475-C340-ACC1-06799CD611C8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C8E98D-8F15-4247-8D5D-7D5CD99265DE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876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rt Placeholder 3"/>
          <p:cNvSpPr>
            <a:spLocks noGrp="1"/>
          </p:cNvSpPr>
          <p:nvPr userDrawn="1">
            <p:ph type="chart" sz="quarter" idx="29" hasCustomPrompt="1"/>
          </p:nvPr>
        </p:nvSpPr>
        <p:spPr>
          <a:xfrm>
            <a:off x="914400" y="2057400"/>
            <a:ext cx="10363200" cy="400050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 from template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D528D74-618E-334B-87B7-D7EDA262D7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B7DC360-7098-D941-A67E-D28011BF65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23084"/>
            <a:ext cx="10363200" cy="91440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5745434D-4ACA-7B4C-A494-98A8512F0FAB}"/>
              </a:ext>
            </a:extLst>
          </p:cNvPr>
          <p:cNvSpPr>
            <a:spLocks noGrp="1"/>
          </p:cNvSpPr>
          <p:nvPr>
            <p:ph type="body" idx="28" hasCustomPrompt="1"/>
          </p:nvPr>
        </p:nvSpPr>
        <p:spPr>
          <a:xfrm>
            <a:off x="914400" y="482708"/>
            <a:ext cx="10363200" cy="451948"/>
          </a:xfrm>
        </p:spPr>
        <p:txBody>
          <a:bodyPr anchor="t"/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6BFCA18-7E9E-E74A-833D-B47F23A04116}"/>
              </a:ext>
            </a:extLst>
          </p:cNvPr>
          <p:cNvCxnSpPr>
            <a:cxnSpLocks/>
          </p:cNvCxnSpPr>
          <p:nvPr userDrawn="1"/>
        </p:nvCxnSpPr>
        <p:spPr>
          <a:xfrm>
            <a:off x="2199190" y="798654"/>
            <a:ext cx="77936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4301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5D0418A-ADC7-7C49-8916-57C1A6D29FF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420384"/>
            <a:ext cx="6705600" cy="167931"/>
          </a:xfrm>
        </p:spPr>
        <p:txBody>
          <a:bodyPr wrap="square" anchor="b">
            <a:spAutoFit/>
          </a:bodyPr>
          <a:lstStyle>
            <a:lvl1pPr>
              <a:defRPr sz="1000" i="0" baseline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 or footer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29028204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D827229-C0C2-E0B9-422D-29972012FE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905001"/>
            <a:ext cx="10375675" cy="2225262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4620890"/>
            <a:ext cx="10377927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04048" y="1732950"/>
            <a:ext cx="10373553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>
              <a:cxnSpLocks/>
            </p:cNvCxnSpPr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bg1">
                  <a:lumMod val="85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dirty="0"/>
            </a:p>
          </p:txBody>
        </p:sp>
      </p:grpSp>
    </p:spTree>
    <p:extLst>
      <p:ext uri="{BB962C8B-B14F-4D97-AF65-F5344CB8AC3E}">
        <p14:creationId xmlns:p14="http://schemas.microsoft.com/office/powerpoint/2010/main" val="17850718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2">
    <p:bg>
      <p:bgPr>
        <a:gradFill>
          <a:gsLst>
            <a:gs pos="0">
              <a:schemeClr val="accent4">
                <a:lumMod val="63000"/>
                <a:lumOff val="37000"/>
              </a:schemeClr>
            </a:gs>
            <a:gs pos="76000">
              <a:schemeClr val="accent1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A596BD-F7A0-DB97-6EF1-CF239F73D1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A1FD6F9-D212-2E42-B64E-F33E6A95F59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673" y="1127050"/>
            <a:ext cx="5192783" cy="3555295"/>
          </a:xfrm>
        </p:spPr>
        <p:txBody>
          <a:bodyPr anchor="ctr"/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899605" y="5024927"/>
            <a:ext cx="51928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b="0" i="0">
                <a:solidFill>
                  <a:schemeClr val="bg1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1" name="Straight Connector 10"/>
          <p:cNvCxnSpPr>
            <a:cxnSpLocks/>
          </p:cNvCxnSpPr>
          <p:nvPr userDrawn="1"/>
        </p:nvCxnSpPr>
        <p:spPr>
          <a:xfrm>
            <a:off x="904048" y="1009936"/>
            <a:ext cx="5188408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 6"/>
          <p:cNvSpPr>
            <a:spLocks/>
          </p:cNvSpPr>
          <p:nvPr userDrawn="1"/>
        </p:nvSpPr>
        <p:spPr bwMode="auto">
          <a:xfrm>
            <a:off x="906298" y="4802043"/>
            <a:ext cx="5161797" cy="103187"/>
          </a:xfrm>
          <a:custGeom>
            <a:avLst/>
            <a:gdLst>
              <a:gd name="T0" fmla="*/ 0 w 4608"/>
              <a:gd name="T1" fmla="*/ 0 h 65"/>
              <a:gd name="T2" fmla="*/ 224 w 4608"/>
              <a:gd name="T3" fmla="*/ 0 h 65"/>
              <a:gd name="T4" fmla="*/ 286 w 4608"/>
              <a:gd name="T5" fmla="*/ 65 h 65"/>
              <a:gd name="T6" fmla="*/ 349 w 4608"/>
              <a:gd name="T7" fmla="*/ 0 h 65"/>
              <a:gd name="T8" fmla="*/ 4608 w 4608"/>
              <a:gd name="T9" fmla="*/ 0 h 65"/>
              <a:gd name="connsiteX0" fmla="*/ 0 w 4977"/>
              <a:gd name="connsiteY0" fmla="*/ 0 h 10000"/>
              <a:gd name="connsiteX1" fmla="*/ 486 w 4977"/>
              <a:gd name="connsiteY1" fmla="*/ 0 h 10000"/>
              <a:gd name="connsiteX2" fmla="*/ 621 w 4977"/>
              <a:gd name="connsiteY2" fmla="*/ 10000 h 10000"/>
              <a:gd name="connsiteX3" fmla="*/ 757 w 4977"/>
              <a:gd name="connsiteY3" fmla="*/ 0 h 10000"/>
              <a:gd name="connsiteX4" fmla="*/ 4977 w 4977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77" h="10000">
                <a:moveTo>
                  <a:pt x="0" y="0"/>
                </a:moveTo>
                <a:lnTo>
                  <a:pt x="486" y="0"/>
                </a:lnTo>
                <a:lnTo>
                  <a:pt x="621" y="10000"/>
                </a:lnTo>
                <a:cubicBezTo>
                  <a:pt x="666" y="6667"/>
                  <a:pt x="712" y="3333"/>
                  <a:pt x="757" y="0"/>
                </a:cubicBezTo>
                <a:lnTo>
                  <a:pt x="4977" y="0"/>
                </a:lnTo>
              </a:path>
            </a:pathLst>
          </a:custGeom>
          <a:noFill/>
          <a:ln w="9525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6763932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Main Idea-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508" y="1905001"/>
            <a:ext cx="10366800" cy="2225262"/>
          </a:xfrm>
        </p:spPr>
        <p:txBody>
          <a:bodyPr anchor="ctr"/>
          <a:lstStyle>
            <a:lvl1pPr>
              <a:lnSpc>
                <a:spcPct val="95000"/>
              </a:lnSpc>
              <a:defRPr sz="4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11441" y="4620890"/>
            <a:ext cx="10369051" cy="1415772"/>
          </a:xfrm>
        </p:spPr>
        <p:txBody>
          <a:bodyPr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Font typeface="Arial" panose="020B0604020202020204" pitchFamily="34" charset="0"/>
              <a:buChar char="​"/>
              <a:defRPr sz="2100" i="0">
                <a:solidFill>
                  <a:srgbClr val="C95C3A"/>
                </a:solidFill>
                <a:latin typeface="Franklin Gothic Demi Cond" panose="020B0706030402020204" pitchFamily="34" charset="0"/>
              </a:defRPr>
            </a:lvl1pPr>
            <a:lvl2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2pPr>
            <a:lvl3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3pPr>
            <a:lvl4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4pPr>
            <a:lvl5pPr marL="0" indent="0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1500">
                <a:solidFill>
                  <a:schemeClr val="tx2">
                    <a:lumMod val="60000"/>
                    <a:lumOff val="4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911508" y="1732950"/>
            <a:ext cx="10369051" cy="2672550"/>
            <a:chOff x="914400" y="1732950"/>
            <a:chExt cx="7316788" cy="2672550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914400" y="1732950"/>
              <a:ext cx="7315200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Freeform 6"/>
            <p:cNvSpPr>
              <a:spLocks/>
            </p:cNvSpPr>
            <p:nvPr userDrawn="1"/>
          </p:nvSpPr>
          <p:spPr bwMode="auto">
            <a:xfrm>
              <a:off x="915988" y="4302313"/>
              <a:ext cx="7315200" cy="103187"/>
            </a:xfrm>
            <a:custGeom>
              <a:avLst/>
              <a:gdLst>
                <a:gd name="T0" fmla="*/ 0 w 4608"/>
                <a:gd name="T1" fmla="*/ 0 h 65"/>
                <a:gd name="T2" fmla="*/ 224 w 4608"/>
                <a:gd name="T3" fmla="*/ 0 h 65"/>
                <a:gd name="T4" fmla="*/ 286 w 4608"/>
                <a:gd name="T5" fmla="*/ 65 h 65"/>
                <a:gd name="T6" fmla="*/ 349 w 4608"/>
                <a:gd name="T7" fmla="*/ 0 h 65"/>
                <a:gd name="T8" fmla="*/ 4608 w 4608"/>
                <a:gd name="T9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08" h="65">
                  <a:moveTo>
                    <a:pt x="0" y="0"/>
                  </a:moveTo>
                  <a:lnTo>
                    <a:pt x="224" y="0"/>
                  </a:lnTo>
                  <a:lnTo>
                    <a:pt x="286" y="65"/>
                  </a:lnTo>
                  <a:lnTo>
                    <a:pt x="349" y="0"/>
                  </a:lnTo>
                  <a:lnTo>
                    <a:pt x="4608" y="0"/>
                  </a:lnTo>
                </a:path>
              </a:pathLst>
            </a:custGeom>
            <a:noFill/>
            <a:ln w="9525" cap="flat">
              <a:solidFill>
                <a:schemeClr val="tx2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2139996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 userDrawn="1"/>
        </p:nvSpPr>
        <p:spPr>
          <a:xfrm>
            <a:off x="10886832" y="6589188"/>
            <a:ext cx="390769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r"/>
            <a:fld id="{12EB7FDA-3CFA-48E9-9A35-E50E94D3505F}" type="slidenum">
              <a:rPr lang="en-US" sz="80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rPr>
              <a:pPr algn="r"/>
              <a:t>‹#›</a:t>
            </a:fld>
            <a:endParaRPr lang="en-US" sz="800" dirty="0">
              <a:solidFill>
                <a:schemeClr val="tx2">
                  <a:lumMod val="60000"/>
                  <a:lumOff val="40000"/>
                </a:schemeClr>
              </a:solidFill>
              <a:latin typeface="+mn-lt"/>
            </a:endParaRP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6577967"/>
            <a:ext cx="6705600" cy="134332"/>
          </a:xfrm>
        </p:spPr>
        <p:txBody>
          <a:bodyPr wrap="square" anchor="b">
            <a:spAutoFit/>
          </a:bodyPr>
          <a:lstStyle>
            <a:lvl1pPr>
              <a:defRPr sz="800" baseline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insert source</a:t>
            </a:r>
          </a:p>
        </p:txBody>
      </p:sp>
      <p:grpSp>
        <p:nvGrpSpPr>
          <p:cNvPr id="2" name="Group 1"/>
          <p:cNvGrpSpPr/>
          <p:nvPr userDrawn="1"/>
        </p:nvGrpSpPr>
        <p:grpSpPr>
          <a:xfrm>
            <a:off x="0" y="1"/>
            <a:ext cx="12192000" cy="6908105"/>
            <a:chOff x="0" y="0"/>
            <a:chExt cx="9144000" cy="6908105"/>
          </a:xfrm>
        </p:grpSpPr>
        <p:grpSp>
          <p:nvGrpSpPr>
            <p:cNvPr id="30" name="Group 29"/>
            <p:cNvGrpSpPr/>
            <p:nvPr userDrawn="1"/>
          </p:nvGrpSpPr>
          <p:grpSpPr>
            <a:xfrm>
              <a:off x="0" y="0"/>
              <a:ext cx="9144000" cy="6858000"/>
              <a:chOff x="0" y="0"/>
              <a:chExt cx="9144000" cy="6858000"/>
            </a:xfrm>
            <a:solidFill>
              <a:schemeClr val="bg1">
                <a:lumMod val="95000"/>
              </a:schemeClr>
            </a:solidFill>
          </p:grpSpPr>
          <p:sp>
            <p:nvSpPr>
              <p:cNvPr id="46" name="Rectangle 45"/>
              <p:cNvSpPr>
                <a:spLocks noChangeAspect="1"/>
              </p:cNvSpPr>
              <p:nvPr/>
            </p:nvSpPr>
            <p:spPr>
              <a:xfrm>
                <a:off x="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7" name="Rectangle 46"/>
              <p:cNvSpPr>
                <a:spLocks noChangeAspect="1"/>
              </p:cNvSpPr>
              <p:nvPr/>
            </p:nvSpPr>
            <p:spPr>
              <a:xfrm>
                <a:off x="8458200" y="0"/>
                <a:ext cx="685800" cy="6858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8" name="Rectangle 47"/>
              <p:cNvSpPr>
                <a:spLocks noChangeAspect="1"/>
              </p:cNvSpPr>
              <p:nvPr/>
            </p:nvSpPr>
            <p:spPr>
              <a:xfrm>
                <a:off x="0" y="0"/>
                <a:ext cx="84582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  <p:sp>
            <p:nvSpPr>
              <p:cNvPr id="49" name="Rectangle 48"/>
              <p:cNvSpPr>
                <a:spLocks noChangeAspect="1"/>
              </p:cNvSpPr>
              <p:nvPr/>
            </p:nvSpPr>
            <p:spPr>
              <a:xfrm>
                <a:off x="0" y="6172200"/>
                <a:ext cx="9144000" cy="6858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 dirty="0">
                  <a:solidFill>
                    <a:srgbClr val="F26531"/>
                  </a:solidFill>
                </a:endParaRPr>
              </a:p>
            </p:txBody>
          </p:sp>
        </p:grpSp>
        <p:cxnSp>
          <p:nvCxnSpPr>
            <p:cNvPr id="31" name="Straight Connector 30"/>
            <p:cNvCxnSpPr/>
            <p:nvPr userDrawn="1"/>
          </p:nvCxnSpPr>
          <p:spPr>
            <a:xfrm flipV="1">
              <a:off x="6858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 userDrawn="1"/>
          </p:nvCxnSpPr>
          <p:spPr>
            <a:xfrm flipV="1">
              <a:off x="8458200" y="0"/>
              <a:ext cx="0" cy="6858001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3" name="Group 32"/>
            <p:cNvGrpSpPr/>
            <p:nvPr userDrawn="1"/>
          </p:nvGrpSpPr>
          <p:grpSpPr>
            <a:xfrm>
              <a:off x="5715000" y="0"/>
              <a:ext cx="457200" cy="6908105"/>
              <a:chOff x="2956470" y="50104"/>
              <a:chExt cx="457200" cy="6858001"/>
            </a:xfrm>
          </p:grpSpPr>
          <p:cxnSp>
            <p:nvCxnSpPr>
              <p:cNvPr id="44" name="Straight Connector 43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4" name="Straight Connector 33"/>
            <p:cNvCxnSpPr/>
            <p:nvPr userDrawn="1"/>
          </p:nvCxnSpPr>
          <p:spPr>
            <a:xfrm rot="5400000" flipV="1">
              <a:off x="4572000" y="-3886200"/>
              <a:ext cx="0" cy="9144000"/>
            </a:xfrm>
            <a:prstGeom prst="line">
              <a:avLst/>
            </a:prstGeom>
            <a:ln w="3175">
              <a:solidFill>
                <a:srgbClr val="FF0066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 userDrawn="1"/>
          </p:nvGrpSpPr>
          <p:grpSpPr>
            <a:xfrm>
              <a:off x="0" y="1143000"/>
              <a:ext cx="9144000" cy="914400"/>
              <a:chOff x="0" y="1143000"/>
              <a:chExt cx="9144000" cy="914400"/>
            </a:xfrm>
          </p:grpSpPr>
          <p:cxnSp>
            <p:nvCxnSpPr>
              <p:cNvPr id="42" name="Straight Connector 41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/>
            <p:cNvGrpSpPr/>
            <p:nvPr userDrawn="1"/>
          </p:nvGrpSpPr>
          <p:grpSpPr>
            <a:xfrm>
              <a:off x="0" y="2971800"/>
              <a:ext cx="9144000" cy="914400"/>
              <a:chOff x="0" y="1143000"/>
              <a:chExt cx="9144000" cy="914400"/>
            </a:xfrm>
          </p:grpSpPr>
          <p:cxnSp>
            <p:nvCxnSpPr>
              <p:cNvPr id="40" name="Straight Connector 39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/>
            <p:cNvGrpSpPr/>
            <p:nvPr userDrawn="1"/>
          </p:nvGrpSpPr>
          <p:grpSpPr>
            <a:xfrm>
              <a:off x="0" y="4800602"/>
              <a:ext cx="9144000" cy="914400"/>
              <a:chOff x="0" y="1143000"/>
              <a:chExt cx="9144000" cy="91440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 rot="5400000" flipV="1">
                <a:off x="4572000" y="-25146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/>
              <p:cNvCxnSpPr/>
              <p:nvPr/>
            </p:nvCxnSpPr>
            <p:spPr>
              <a:xfrm rot="5400000" flipV="1">
                <a:off x="4572000" y="-3429000"/>
                <a:ext cx="0" cy="9144000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" name="Group 49"/>
            <p:cNvGrpSpPr/>
            <p:nvPr userDrawn="1"/>
          </p:nvGrpSpPr>
          <p:grpSpPr>
            <a:xfrm>
              <a:off x="2971800" y="0"/>
              <a:ext cx="457200" cy="6908105"/>
              <a:chOff x="2956470" y="50104"/>
              <a:chExt cx="457200" cy="6858001"/>
            </a:xfrm>
          </p:grpSpPr>
          <p:cxnSp>
            <p:nvCxnSpPr>
              <p:cNvPr id="51" name="Straight Connector 50"/>
              <p:cNvCxnSpPr/>
              <p:nvPr/>
            </p:nvCxnSpPr>
            <p:spPr>
              <a:xfrm flipV="1">
                <a:off x="29564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 flipV="1">
                <a:off x="3413670" y="50104"/>
                <a:ext cx="0" cy="6858001"/>
              </a:xfrm>
              <a:prstGeom prst="line">
                <a:avLst/>
              </a:prstGeom>
              <a:ln w="3175">
                <a:solidFill>
                  <a:srgbClr val="FF0066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8860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384F6B-C20E-5FEA-F12E-7FE3D947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C5F03-3690-FC30-81A1-BA8F9CD79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75DFF-9758-CB22-FAEC-B57769D18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29D61C-A5C8-4534-B674-2D73377B8552}" type="datetime1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C4A72-BEEF-CB87-3421-75EF61591E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54B8-9517-BDA4-F2C8-A823439295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CFE87B-397E-FB45-9109-2E4C6B1051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72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  <p:sldLayoutId id="2147483658" r:id="rId15"/>
    <p:sldLayoutId id="2147483655" r:id="rId16"/>
    <p:sldLayoutId id="2147483652" r:id="rId17"/>
    <p:sldLayoutId id="2147483654" r:id="rId18"/>
    <p:sldLayoutId id="2147483651" r:id="rId19"/>
    <p:sldLayoutId id="2147483660" r:id="rId20"/>
    <p:sldLayoutId id="2147483661" r:id="rId21"/>
    <p:sldLayoutId id="2147483665" r:id="rId22"/>
    <p:sldLayoutId id="2147483666" r:id="rId23"/>
    <p:sldLayoutId id="2147483663" r:id="rId24"/>
    <p:sldLayoutId id="2147483656" r:id="rId2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F26B43"/>
          </p15:clr>
        </p15:guide>
        <p15:guide id="2" orient="horz" pos="3912" userDrawn="1">
          <p15:clr>
            <a:srgbClr val="F26B43"/>
          </p15:clr>
        </p15:guide>
        <p15:guide id="3" pos="7104" userDrawn="1">
          <p15:clr>
            <a:srgbClr val="F26B43"/>
          </p15:clr>
        </p15:guide>
        <p15:guide id="4" orient="horz" pos="412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The University of Texas at Dallas.">
            <a:extLst>
              <a:ext uri="{FF2B5EF4-FFF2-40B4-BE49-F238E27FC236}">
                <a16:creationId xmlns:a16="http://schemas.microsoft.com/office/drawing/2014/main" id="{583EF3AA-C5AC-9E4F-87B2-F0A90D2DA9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56" y="670560"/>
            <a:ext cx="5500718" cy="95664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Edge-Based Cross Sensitivity Correction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Dheeraj Somashekar</a:t>
            </a:r>
          </a:p>
          <a:p>
            <a:pPr lvl="1"/>
            <a:r>
              <a:rPr lang="en-US" dirty="0"/>
              <a:t>3/26/26</a:t>
            </a:r>
          </a:p>
          <a:p>
            <a:pPr lvl="1"/>
            <a:r>
              <a:rPr lang="en-US" dirty="0"/>
              <a:t>MINTS Lab Meeting</a:t>
            </a:r>
          </a:p>
        </p:txBody>
      </p:sp>
      <p:pic>
        <p:nvPicPr>
          <p:cNvPr id="2" name="Picture 1" descr="Emblem with orange background.">
            <a:extLst>
              <a:ext uri="{FF2B5EF4-FFF2-40B4-BE49-F238E27FC236}">
                <a16:creationId xmlns:a16="http://schemas.microsoft.com/office/drawing/2014/main" id="{A7308AF1-D65C-71D9-1169-9849DDA4EA8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5196" y="5419463"/>
            <a:ext cx="1234398" cy="12343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B6EA7C-D1D6-8C6B-ACEB-C001E75A73F3}"/>
              </a:ext>
            </a:extLst>
          </p:cNvPr>
          <p:cNvSpPr txBox="1"/>
          <p:nvPr/>
        </p:nvSpPr>
        <p:spPr>
          <a:xfrm flipH="1">
            <a:off x="209646" y="6317872"/>
            <a:ext cx="447610" cy="335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>
                <a:solidFill>
                  <a:schemeClr val="bg1"/>
                </a:solidFill>
              </a:rPr>
              <a:t>1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0756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3E6D92-3A22-BE8A-5F20-5F6F3728D9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05CED7-DB82-AFC1-8A5B-802D92AB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931768"/>
            <a:ext cx="10363200" cy="914402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A4C7EEA4-C279-5B21-6931-9F248F7D9E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106" y="5518785"/>
            <a:ext cx="1336894" cy="13392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18B759-0D23-0E25-DF18-955D1612E44C}"/>
              </a:ext>
            </a:extLst>
          </p:cNvPr>
          <p:cNvSpPr txBox="1"/>
          <p:nvPr/>
        </p:nvSpPr>
        <p:spPr>
          <a:xfrm flipH="1">
            <a:off x="152465" y="6420320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/>
              <a:t>2</a:t>
            </a:fld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C02C35-CFE1-03CC-8250-ECF5A595B57F}"/>
              </a:ext>
            </a:extLst>
          </p:cNvPr>
          <p:cNvSpPr txBox="1"/>
          <p:nvPr/>
        </p:nvSpPr>
        <p:spPr>
          <a:xfrm>
            <a:off x="914400" y="2119410"/>
            <a:ext cx="2924175" cy="26191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Background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Outline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Approach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Possible Failures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References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5401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D594C-0EB7-97D3-1E88-3FF84D199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C3F4C71-D8EF-8E6F-1F52-1BB16E3C9F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218085"/>
            <a:ext cx="6705600" cy="37023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(1) https://www.researchgate.net/figure/Cross-sensitivity-analysis-of-the-sensors-using-a-b-low-concentration-NH3-and-high_fig5_334078522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7D3AA-E413-39AF-0E0B-2C91D50EE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726A7D2B-7C52-AEBB-72F9-A6EC4546F08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6444" y="5891746"/>
            <a:ext cx="1055443" cy="10572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F093FE-8BC8-4339-2633-C2ACFEA4ED1B}"/>
              </a:ext>
            </a:extLst>
          </p:cNvPr>
          <p:cNvSpPr txBox="1"/>
          <p:nvPr/>
        </p:nvSpPr>
        <p:spPr>
          <a:xfrm flipH="1">
            <a:off x="152465" y="6453856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/>
              <a:t>3</a:t>
            </a:fld>
            <a:endParaRPr lang="en-US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E0B9F6-0FC2-74AF-8E7A-12F2D4103CFE}"/>
              </a:ext>
            </a:extLst>
          </p:cNvPr>
          <p:cNvSpPr txBox="1"/>
          <p:nvPr/>
        </p:nvSpPr>
        <p:spPr>
          <a:xfrm>
            <a:off x="1476375" y="2031146"/>
            <a:ext cx="5915025" cy="3958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Low-cost electrochemical gas sensors (SO₂, O₃, NO₂, CO) are widely used in urban air-quality networks but suffer from significant cross-sensitivity to co-pollutants and humidity.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Environmental factors like temperature and relative humidity modify sensor baseline, cause drift, and amplify interference effects. 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Limited research on performing real-time, embedded cross-sensitivity correction directly on microcontrollers. </a:t>
            </a: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17E120-5742-CDA7-1A37-8FAC537016D0}"/>
              </a:ext>
            </a:extLst>
          </p:cNvPr>
          <p:cNvSpPr txBox="1"/>
          <p:nvPr/>
        </p:nvSpPr>
        <p:spPr>
          <a:xfrm>
            <a:off x="7765180" y="5295900"/>
            <a:ext cx="4158665" cy="79419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100" dirty="0"/>
              <a:t>(1) Cross-sensitivity analysis of the sensors using (a), (b) low concentration NH3, and high concentration H2, CO and H2S pulses as well as (c), (d) similar analyte concentrations during the measurements.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38C733B-2C9D-C142-1027-393F646BD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6100" y="1837486"/>
            <a:ext cx="4476824" cy="3415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95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3797-F5E5-5F57-63B9-2A5E4798D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309BD87-07C5-20D3-6183-A9627E4BF6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356585"/>
            <a:ext cx="6705600" cy="23173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(2) https://dk0tu.de/posts/Raspberry_Pi_Lowpass_Filters/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0F228E-3191-1341-3EF4-D7AC6D708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11234AC0-E669-67F4-81C9-6714B74B24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106" y="5518785"/>
            <a:ext cx="1336894" cy="1339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73E088-B1E7-5019-1787-42479135FE84}"/>
              </a:ext>
            </a:extLst>
          </p:cNvPr>
          <p:cNvSpPr txBox="1"/>
          <p:nvPr/>
        </p:nvSpPr>
        <p:spPr>
          <a:xfrm flipH="1">
            <a:off x="152465" y="6453856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/>
              <a:t>4</a:t>
            </a:fld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E85DF8-70CA-1FCC-23D7-7B845972DA20}"/>
              </a:ext>
            </a:extLst>
          </p:cNvPr>
          <p:cNvSpPr txBox="1"/>
          <p:nvPr/>
        </p:nvSpPr>
        <p:spPr>
          <a:xfrm>
            <a:off x="1428750" y="1837486"/>
            <a:ext cx="6334125" cy="39587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Goal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 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nhance the accuracy of low-cost sensors using real-time edge computing.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Problem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sym typeface="Wingdings" panose="05000000000000000000" pitchFamily="2" charset="2"/>
              </a:rPr>
              <a:t> Prone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 cross-sensitivity, often misreporting O3, NO2, or humidity as SO2.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Use a Raspberry Pi to act as a "digital filter" that can differentiate between target gas signals and environmental interference.</a:t>
            </a:r>
          </a:p>
          <a:p>
            <a:pPr>
              <a:lnSpc>
                <a:spcPct val="120000"/>
              </a:lnSpc>
            </a:pP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Transition from unreliable data to "refined" research-grade data without expensive equipment.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C606CEE-E8BC-CD83-F504-0A09D9F96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1061" y="2482328"/>
            <a:ext cx="3814214" cy="23916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7E33ED4-F66C-23BD-69DF-5592A20DC3B8}"/>
              </a:ext>
            </a:extLst>
          </p:cNvPr>
          <p:cNvSpPr txBox="1"/>
          <p:nvPr/>
        </p:nvSpPr>
        <p:spPr>
          <a:xfrm>
            <a:off x="7911061" y="4961170"/>
            <a:ext cx="3976139" cy="2436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/>
              <a:t>(2) Low pass Filter using Raspberry Pi</a:t>
            </a:r>
          </a:p>
        </p:txBody>
      </p:sp>
    </p:spTree>
    <p:extLst>
      <p:ext uri="{BB962C8B-B14F-4D97-AF65-F5344CB8AC3E}">
        <p14:creationId xmlns:p14="http://schemas.microsoft.com/office/powerpoint/2010/main" val="2398813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E581B-24A8-F2A6-718B-84B25CE28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BB8379D-F4C0-7BF6-3730-19938CC046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4400" y="6356585"/>
            <a:ext cx="6705600" cy="23173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(3) https://thekalmanfilter.com/kalman-filter-explained-simply/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B7987B-BDC0-EBB9-5928-352414436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7C05CB6F-5C00-4AA8-2193-3D2CB6D99BF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106" y="5518785"/>
            <a:ext cx="1336894" cy="1339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47926-ACD3-A258-E170-A7EC19EFD518}"/>
              </a:ext>
            </a:extLst>
          </p:cNvPr>
          <p:cNvSpPr txBox="1"/>
          <p:nvPr/>
        </p:nvSpPr>
        <p:spPr>
          <a:xfrm flipH="1">
            <a:off x="152465" y="6453856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/>
              <a:t>5</a:t>
            </a:fld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8C8AD3-914F-95CF-8B31-837DB705656B}"/>
              </a:ext>
            </a:extLst>
          </p:cNvPr>
          <p:cNvSpPr txBox="1"/>
          <p:nvPr/>
        </p:nvSpPr>
        <p:spPr>
          <a:xfrm>
            <a:off x="914400" y="1837486"/>
            <a:ext cx="6334125" cy="29615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Interface sensors with a Raspberry Pi via a 16-bit ADS1115 ADC for high-resolution signal capture.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Expose sensors to controlled "interference events" to quantify false-positive readings.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Map the mathematical relationship between Gas X &amp; Gas Y. 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Utilize Linear Regression or a Kalman Filter in Python to subtract known interferences in real-time.</a:t>
            </a:r>
          </a:p>
          <a:p>
            <a:pPr marL="342900" indent="-342900">
              <a:lnSpc>
                <a:spcPct val="120000"/>
              </a:lnSpc>
              <a:buAutoNum type="arabicPeriod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Expected Outcome: A "clean" output stream with a significantly reduced Root Mean Square Error (RMSE).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7D4BBA6-D462-8B34-20C4-48149DDD4F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4147" y="1171031"/>
            <a:ext cx="1796320" cy="1290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D71A6CB-ACC6-91E3-953A-5B72ED3D75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799" y="2625107"/>
            <a:ext cx="4237891" cy="30076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2F999-9855-56E6-BE0D-F46B3C45F8F8}"/>
              </a:ext>
            </a:extLst>
          </p:cNvPr>
          <p:cNvSpPr txBox="1"/>
          <p:nvPr/>
        </p:nvSpPr>
        <p:spPr>
          <a:xfrm>
            <a:off x="9243644" y="5642045"/>
            <a:ext cx="1457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(3) Kalman Filter</a:t>
            </a:r>
          </a:p>
        </p:txBody>
      </p:sp>
    </p:spTree>
    <p:extLst>
      <p:ext uri="{BB962C8B-B14F-4D97-AF65-F5344CB8AC3E}">
        <p14:creationId xmlns:p14="http://schemas.microsoft.com/office/powerpoint/2010/main" val="28895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3D2DA8-D479-90E9-810D-5678DA734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Project Workflow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13ED08-30A3-8CF8-0901-11A72F8B2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247" y="2406272"/>
            <a:ext cx="3720973" cy="360004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AECC86-1F93-B3B8-F115-8D099FB723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83" y="2424559"/>
            <a:ext cx="3725672" cy="36000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67B5B38-9D4C-9B48-EC3C-05F1A3918D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609" y="2424560"/>
            <a:ext cx="3758184" cy="360004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76645-8657-D53E-C98D-10F4FD08D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08928" y="6492875"/>
            <a:ext cx="387769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fld id="{5FCFE87B-397E-FB45-9109-2E4C6B1051D2}" type="slidenum">
              <a:rPr lang="en-US" sz="2000" smtClean="0">
                <a:solidFill>
                  <a:schemeClr val="tx1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713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85761-867E-DB4E-0BC6-260D9CB32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7F88D25-D6FA-4F7F-36A0-6F81B49047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D928BDE-E4F7-7484-8065-D26FDA22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Failures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64AEDBAB-1739-4E98-5CD8-50CB996A0FA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106" y="5518785"/>
            <a:ext cx="1336894" cy="1339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7C038D-CEF0-5101-26B0-54F82CA2F1E8}"/>
              </a:ext>
            </a:extLst>
          </p:cNvPr>
          <p:cNvSpPr txBox="1"/>
          <p:nvPr/>
        </p:nvSpPr>
        <p:spPr>
          <a:xfrm flipH="1">
            <a:off x="152465" y="6414293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865C94-522D-A5DF-E136-BA3CE1097264}"/>
              </a:ext>
            </a:extLst>
          </p:cNvPr>
          <p:cNvSpPr txBox="1"/>
          <p:nvPr/>
        </p:nvSpPr>
        <p:spPr>
          <a:xfrm>
            <a:off x="1428750" y="1742766"/>
            <a:ext cx="5248275" cy="19643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5050"/>
                </a:solidFill>
              </a:rPr>
              <a:t>Non-Linear Interference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Risk: Cross-sensitivity may be non-linear or vary with sensor age.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Potential Approach: Use polynomial regression or periodically re-calibrate the baseline in clean air.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846FE1-AA5C-96C8-5BB4-CDA4CB1BCFC9}"/>
              </a:ext>
            </a:extLst>
          </p:cNvPr>
          <p:cNvSpPr txBox="1"/>
          <p:nvPr/>
        </p:nvSpPr>
        <p:spPr>
          <a:xfrm>
            <a:off x="1428750" y="3707150"/>
            <a:ext cx="5248276" cy="196438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5050"/>
                </a:solidFill>
              </a:rPr>
              <a:t>Processing Latency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Risk: High-frequency sampling might bottleneck the Pi's I2C bus. 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Potential Approach: Optimize Python code using NumPy for vectorized math and adjust sampling rates to 1Hz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DD227-80E1-E498-E614-0D9224222BEB}"/>
              </a:ext>
            </a:extLst>
          </p:cNvPr>
          <p:cNvSpPr txBox="1"/>
          <p:nvPr/>
        </p:nvSpPr>
        <p:spPr>
          <a:xfrm>
            <a:off x="7029450" y="2117002"/>
            <a:ext cx="4752976" cy="262918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5050"/>
                </a:solidFill>
              </a:rPr>
              <a:t>Environmental “Poisoning”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Risk: Extreme humidity or high gas concentrations could temporarily "blind" the sensor. </a:t>
            </a:r>
          </a:p>
          <a:p>
            <a:pPr marL="742950" lvl="1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Potential Approach: Program "Safety Thresholds" in the firmware to flag data as unreliable during extreme environmental spikes.</a:t>
            </a:r>
          </a:p>
        </p:txBody>
      </p:sp>
    </p:spTree>
    <p:extLst>
      <p:ext uri="{BB962C8B-B14F-4D97-AF65-F5344CB8AC3E}">
        <p14:creationId xmlns:p14="http://schemas.microsoft.com/office/powerpoint/2010/main" val="946855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751FD-CE23-1B29-55AF-D8BCC7F3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9A7B4A-C701-DC8B-0B3A-162587372B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E27FE1-4490-18AE-C13D-D7E157DE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pic>
        <p:nvPicPr>
          <p:cNvPr id="5" name="Picture 4" descr="Monogram using orange text. ">
            <a:extLst>
              <a:ext uri="{FF2B5EF4-FFF2-40B4-BE49-F238E27FC236}">
                <a16:creationId xmlns:a16="http://schemas.microsoft.com/office/drawing/2014/main" id="{B0446914-C079-75C3-A474-912234C148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5106" y="5518785"/>
            <a:ext cx="1336894" cy="1339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2C4EB9-80D6-FA3D-5D9A-B7BD6ABB5A06}"/>
              </a:ext>
            </a:extLst>
          </p:cNvPr>
          <p:cNvSpPr txBox="1"/>
          <p:nvPr/>
        </p:nvSpPr>
        <p:spPr>
          <a:xfrm flipH="1">
            <a:off x="152465" y="6453856"/>
            <a:ext cx="447610" cy="3480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8B5E4F-95D3-B885-1B64-E3203571AE56}"/>
              </a:ext>
            </a:extLst>
          </p:cNvPr>
          <p:cNvSpPr txBox="1"/>
          <p:nvPr/>
        </p:nvSpPr>
        <p:spPr>
          <a:xfrm>
            <a:off x="1504950" y="1778548"/>
            <a:ext cx="8639175" cy="47007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Hayward, I., Martin, N. A., Ferracci, V.,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Kazemimanesh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M., &amp; Kumar, P. (2024). Low-Cost Air Quality Sensors: Biases, Corrections and Challenges in Their Comparability. </a:t>
            </a: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Atmosphere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 </a:t>
            </a: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15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(12), 1523. https://doi.org/10.3390/atmos15121523</a:t>
            </a: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Xiaobing Pang, Marvin D. Shaw, Stefan Gillot, Alastair C. Lewis, The impacts of water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vapour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and co-pollutants on the performance of electrochemical gas sensors used for air quality monitoring, Sensors and Actuators B: Chemical, Volume 266, 2018, Pages 674-684, ISSN 0925-4005, https://doi.org/10.1016/j.snb.2018.03.144. </a:t>
            </a: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Jarvinen, Topias &amp;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Lorite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Gabriela &amp;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Peräntie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Jani &amp; Toth, Geza &amp;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Saarakkala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Simo &amp; Virtanen, Vesa &amp; </a:t>
            </a:r>
            <a:r>
              <a:rPr lang="en-US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Kordás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Krisztián. (2019). WS2 and MoS2 thin film gas sensors with high response to NH3 in air at low temperature. Nanotechnology. 30. 10.1088/1361-6528/ab2d48. </a:t>
            </a: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lnSpc>
                <a:spcPct val="120000"/>
              </a:lnSpc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1321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4798942" y="3999840"/>
            <a:ext cx="6117069" cy="18300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5400" i="0" dirty="0"/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1C62F-2F48-56B8-12B1-8ABC8F5353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810" y="1923096"/>
            <a:ext cx="1598379" cy="1601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0B20A31-0441-D0F7-3C62-BFC94BD3D165}"/>
              </a:ext>
            </a:extLst>
          </p:cNvPr>
          <p:cNvSpPr txBox="1"/>
          <p:nvPr/>
        </p:nvSpPr>
        <p:spPr>
          <a:xfrm flipH="1">
            <a:off x="152465" y="6453856"/>
            <a:ext cx="447610" cy="335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fld id="{3CE300AC-0BF5-4BB3-864D-9D98D30B991B}" type="slidenum">
              <a:rPr lang="en-US" sz="2000">
                <a:solidFill>
                  <a:schemeClr val="bg1"/>
                </a:solidFill>
              </a:rPr>
              <a:t>9</a:t>
            </a:fld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38007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Sophisticated Business">
      <a:dk1>
        <a:sysClr val="windowText" lastClr="000000"/>
      </a:dk1>
      <a:lt1>
        <a:sysClr val="window" lastClr="FFFFFF"/>
      </a:lt1>
      <a:dk2>
        <a:srgbClr val="897C57"/>
      </a:dk2>
      <a:lt2>
        <a:srgbClr val="FFFFFF"/>
      </a:lt2>
      <a:accent1>
        <a:srgbClr val="3C8689"/>
      </a:accent1>
      <a:accent2>
        <a:srgbClr val="E2BA41"/>
      </a:accent2>
      <a:accent3>
        <a:srgbClr val="C8904D"/>
      </a:accent3>
      <a:accent4>
        <a:srgbClr val="66AF9E"/>
      </a:accent4>
      <a:accent5>
        <a:srgbClr val="897C57"/>
      </a:accent5>
      <a:accent6>
        <a:srgbClr val="AF9D66"/>
      </a:accent6>
      <a:hlink>
        <a:srgbClr val="3C8689"/>
      </a:hlink>
      <a:folHlink>
        <a:srgbClr val="897C57"/>
      </a:folHlink>
    </a:clrScheme>
    <a:fontScheme name="Sophisticated Business">
      <a:majorFont>
        <a:latin typeface="Franklin Gothic Book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1987</TotalTime>
  <Words>630</Words>
  <Application>Microsoft Office PowerPoint</Application>
  <PresentationFormat>Widescreen</PresentationFormat>
  <Paragraphs>66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Aptos</vt:lpstr>
      <vt:lpstr>Aptos Display</vt:lpstr>
      <vt:lpstr>Arial</vt:lpstr>
      <vt:lpstr>Franklin Gothic Book</vt:lpstr>
      <vt:lpstr>Franklin Gothic Demi Cond</vt:lpstr>
      <vt:lpstr>Georgia</vt:lpstr>
      <vt:lpstr>Wingdings</vt:lpstr>
      <vt:lpstr>Office Theme</vt:lpstr>
      <vt:lpstr>Edge-Based Cross Sensitivity Correction</vt:lpstr>
      <vt:lpstr>Contents</vt:lpstr>
      <vt:lpstr>Background</vt:lpstr>
      <vt:lpstr>Outline</vt:lpstr>
      <vt:lpstr>Approach</vt:lpstr>
      <vt:lpstr>Project Workflow</vt:lpstr>
      <vt:lpstr>Possible Failures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Duarte;Inc. 2014</dc:creator>
  <cp:lastModifiedBy>Somashekar, Dheeraj</cp:lastModifiedBy>
  <cp:revision>201</cp:revision>
  <dcterms:created xsi:type="dcterms:W3CDTF">2014-02-06T21:29:49Z</dcterms:created>
  <dcterms:modified xsi:type="dcterms:W3CDTF">2026-03-31T19:37:19Z</dcterms:modified>
</cp:coreProperties>
</file>